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0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277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360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930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738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125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78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00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71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7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91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13544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65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tonda angolo diagonale rettangolo 6">
            <a:extLst>
              <a:ext uri="{FF2B5EF4-FFF2-40B4-BE49-F238E27FC236}">
                <a16:creationId xmlns:a16="http://schemas.microsoft.com/office/drawing/2014/main" id="{43E217BF-0E04-6073-4BCB-F9272CB2E83D}"/>
              </a:ext>
            </a:extLst>
          </p:cNvPr>
          <p:cNvSpPr/>
          <p:nvPr/>
        </p:nvSpPr>
        <p:spPr>
          <a:xfrm>
            <a:off x="807366" y="744223"/>
            <a:ext cx="11186868" cy="57927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906" y="21600"/>
                  <a:pt x="20050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694" y="0"/>
                  <a:pt x="1550" y="0"/>
                </a:cubicBezTo>
                <a:close/>
              </a:path>
            </a:pathLst>
          </a:custGeom>
          <a:solidFill>
            <a:srgbClr val="800000"/>
          </a:solidFill>
          <a:ln w="12700">
            <a:miter lim="400000"/>
          </a:ln>
          <a:effectLst>
            <a:outerShdw blurRad="50800" dist="25400" dir="5400000" rotWithShape="0">
              <a:srgbClr val="595959">
                <a:alpha val="34999"/>
              </a:srgbClr>
            </a:outerShdw>
          </a:effectLst>
        </p:spPr>
        <p:txBody>
          <a:bodyPr lIns="22958" tIns="22958" rIns="22958" bIns="22958" anchor="ctr"/>
          <a:lstStyle/>
          <a:p>
            <a:endParaRPr sz="317"/>
          </a:p>
        </p:txBody>
      </p:sp>
      <p:grpSp>
        <p:nvGrpSpPr>
          <p:cNvPr id="23" name="Rettangolo 9">
            <a:extLst>
              <a:ext uri="{FF2B5EF4-FFF2-40B4-BE49-F238E27FC236}">
                <a16:creationId xmlns:a16="http://schemas.microsoft.com/office/drawing/2014/main" id="{1CDEA274-DD48-E2D8-89B4-9380607D38DA}"/>
              </a:ext>
            </a:extLst>
          </p:cNvPr>
          <p:cNvGrpSpPr/>
          <p:nvPr/>
        </p:nvGrpSpPr>
        <p:grpSpPr>
          <a:xfrm>
            <a:off x="1057194" y="5930324"/>
            <a:ext cx="1715689" cy="312451"/>
            <a:chOff x="-1" y="0"/>
            <a:chExt cx="4881041" cy="888906"/>
          </a:xfrm>
        </p:grpSpPr>
        <p:sp>
          <p:nvSpPr>
            <p:cNvPr id="24" name="Rettangolo">
              <a:extLst>
                <a:ext uri="{FF2B5EF4-FFF2-40B4-BE49-F238E27FC236}">
                  <a16:creationId xmlns:a16="http://schemas.microsoft.com/office/drawing/2014/main" id="{BABB2062-3773-5B21-E7A8-6FA9B99CA65B}"/>
                </a:ext>
              </a:extLst>
            </p:cNvPr>
            <p:cNvSpPr/>
            <p:nvPr/>
          </p:nvSpPr>
          <p:spPr>
            <a:xfrm>
              <a:off x="-1" y="0"/>
              <a:ext cx="4881041" cy="88890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2958" tIns="22958" rIns="22958" bIns="22958" numCol="1" anchor="ctr">
              <a:noAutofit/>
            </a:bodyPr>
            <a:lstStyle/>
            <a:p>
              <a:pPr algn="ctr">
                <a:defRPr>
                  <a:solidFill>
                    <a:srgbClr val="8000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endParaRPr sz="317" dirty="0"/>
            </a:p>
          </p:txBody>
        </p:sp>
        <p:sp>
          <p:nvSpPr>
            <p:cNvPr id="25" name="Roma, 2018">
              <a:extLst>
                <a:ext uri="{FF2B5EF4-FFF2-40B4-BE49-F238E27FC236}">
                  <a16:creationId xmlns:a16="http://schemas.microsoft.com/office/drawing/2014/main" id="{DD03D9A7-1DB9-7FC1-8A3F-66E0C5309742}"/>
                </a:ext>
              </a:extLst>
            </p:cNvPr>
            <p:cNvSpPr/>
            <p:nvPr/>
          </p:nvSpPr>
          <p:spPr>
            <a:xfrm>
              <a:off x="-1" y="121209"/>
              <a:ext cx="4881039" cy="6464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2141" tIns="32141" rIns="32141" bIns="32141" numCol="1" anchor="ctr">
              <a:noAutofit/>
            </a:bodyPr>
            <a:lstStyle>
              <a:lvl1pPr algn="ctr">
                <a:defRPr sz="3000" b="1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it-IT" sz="1500" dirty="0"/>
                <a:t>19/06/2026</a:t>
              </a:r>
              <a:endParaRPr sz="1500" dirty="0"/>
            </a:p>
          </p:txBody>
        </p:sp>
      </p:grpSp>
      <p:sp>
        <p:nvSpPr>
          <p:cNvPr id="26" name="CasellaDiTesto 4">
            <a:extLst>
              <a:ext uri="{FF2B5EF4-FFF2-40B4-BE49-F238E27FC236}">
                <a16:creationId xmlns:a16="http://schemas.microsoft.com/office/drawing/2014/main" id="{60333941-04C5-CCBE-2BAB-A47227EB42CB}"/>
              </a:ext>
            </a:extLst>
          </p:cNvPr>
          <p:cNvSpPr/>
          <p:nvPr/>
        </p:nvSpPr>
        <p:spPr>
          <a:xfrm>
            <a:off x="1506600" y="2630982"/>
            <a:ext cx="10145025" cy="1542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tIns="32141" bIns="32141">
            <a:spAutoFit/>
          </a:bodyPr>
          <a:lstStyle/>
          <a:p>
            <a:pPr algn="ctr"/>
            <a:r>
              <a:rPr lang="it-IT" sz="4800" b="1" dirty="0">
                <a:solidFill>
                  <a:schemeClr val="bg1"/>
                </a:solidFill>
              </a:rPr>
              <a:t>Analisi delle condizioni </a:t>
            </a:r>
          </a:p>
          <a:p>
            <a:pPr algn="ctr"/>
            <a:r>
              <a:rPr lang="it-IT" sz="4800" b="1" dirty="0">
                <a:solidFill>
                  <a:schemeClr val="bg1"/>
                </a:solidFill>
              </a:rPr>
              <a:t>di sosta veicolare </a:t>
            </a:r>
          </a:p>
        </p:txBody>
      </p:sp>
      <p:pic>
        <p:nvPicPr>
          <p:cNvPr id="27" name="Immagine 8" descr="Immagine 8">
            <a:extLst>
              <a:ext uri="{FF2B5EF4-FFF2-40B4-BE49-F238E27FC236}">
                <a16:creationId xmlns:a16="http://schemas.microsoft.com/office/drawing/2014/main" id="{877D6292-A7B8-AFD4-4346-B30FAAE65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Linee_Grigie-02.png" descr="Linee_Grigie-02.png">
            <a:extLst>
              <a:ext uri="{FF2B5EF4-FFF2-40B4-BE49-F238E27FC236}">
                <a16:creationId xmlns:a16="http://schemas.microsoft.com/office/drawing/2014/main" id="{07BD3596-438C-BF26-FD06-DCD60317E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292" y="8998289"/>
            <a:ext cx="4363012" cy="32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Skyline-03.png" descr="Skyline-03.png">
            <a:extLst>
              <a:ext uri="{FF2B5EF4-FFF2-40B4-BE49-F238E27FC236}">
                <a16:creationId xmlns:a16="http://schemas.microsoft.com/office/drawing/2014/main" id="{7C2E1C8B-3514-ABA5-11AF-BE59191F9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7472163"/>
            <a:ext cx="6098821" cy="16407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Logo_500x500.png" descr="Logo_500x500.png">
            <a:extLst>
              <a:ext uri="{FF2B5EF4-FFF2-40B4-BE49-F238E27FC236}">
                <a16:creationId xmlns:a16="http://schemas.microsoft.com/office/drawing/2014/main" id="{6493F174-55DB-E78B-DBDF-9BB3D3301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97" y="7885396"/>
            <a:ext cx="1273593" cy="1273593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30"/>
          <p:cNvSpPr txBox="1"/>
          <p:nvPr/>
        </p:nvSpPr>
        <p:spPr>
          <a:xfrm>
            <a:off x="1508760" y="4343400"/>
            <a:ext cx="101406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03030"/>
                </a:solidFill>
                <a:latin typeface="Helvetica"/>
              </a:rPr>
              <a:t>Dove, quando e quanto sostano i veicoli nel Comune di Roma</a:t>
            </a:r>
          </a:p>
          <a:p>
            <a:pPr algn="ctr"/>
            <a:r>
              <a:rPr sz="1600" b="0" i="1">
                <a:solidFill>
                  <a:srgbClr val="707070"/>
                </a:solidFill>
                <a:latin typeface="Helvetica"/>
              </a:rPr>
              <a:t>Analisi su dati Floating Car Data (FCD) — marzo 2023</a:t>
            </a:r>
          </a:p>
        </p:txBody>
      </p:sp>
    </p:spTree>
    <p:extLst>
      <p:ext uri="{BB962C8B-B14F-4D97-AF65-F5344CB8AC3E}">
        <p14:creationId xmlns:p14="http://schemas.microsoft.com/office/powerpoint/2010/main" val="225194301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Obiettivo dell'analisi e dati di partenza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Tre domande sulla </a:t>
            </a:r>
            <a:r>
              <a:rPr sz="1800" b="1" i="0">
                <a:solidFill>
                  <a:srgbClr val="C00000"/>
                </a:solidFill>
                <a:latin typeface="Helvetica"/>
              </a:rPr>
              <a:t>sosta veicolare a Roma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, a partire da dati GPS reali:</a:t>
            </a:r>
          </a:p>
          <a:p>
            <a:pPr lvl="1">
              <a:lnSpc>
                <a:spcPct val="104000"/>
              </a:lnSpc>
              <a:spcAft>
                <a:spcPts val="1000"/>
              </a:spcAft>
            </a:pPr>
            <a:r>
              <a:rPr sz="1800" b="0" i="0">
                <a:solidFill>
                  <a:srgbClr val="707070"/>
                </a:solidFill>
                <a:latin typeface="Helvetica"/>
              </a:rPr>
              <a:t>–   </a:t>
            </a:r>
            <a:r>
              <a:rPr sz="1800" b="1" i="0">
                <a:solidFill>
                  <a:srgbClr val="C00000"/>
                </a:solidFill>
                <a:latin typeface="Helvetica"/>
              </a:rPr>
              <a:t>Dove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 parcheggiano i veicoli — su strada (on-street) o fuori strada (off-street)</a:t>
            </a:r>
          </a:p>
          <a:p>
            <a:pPr lvl="1">
              <a:lnSpc>
                <a:spcPct val="104000"/>
              </a:lnSpc>
              <a:spcAft>
                <a:spcPts val="1000"/>
              </a:spcAft>
            </a:pPr>
            <a:r>
              <a:rPr sz="1800" b="0" i="0">
                <a:solidFill>
                  <a:srgbClr val="707070"/>
                </a:solidFill>
                <a:latin typeface="Helvetica"/>
              </a:rPr>
              <a:t>–   </a:t>
            </a:r>
            <a:r>
              <a:rPr sz="1800" b="1" i="0">
                <a:solidFill>
                  <a:srgbClr val="C00000"/>
                </a:solidFill>
                <a:latin typeface="Helvetica"/>
              </a:rPr>
              <a:t>Quanti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 veicoli sono fermi in un dato momento rispetto a quelli in uso</a:t>
            </a:r>
          </a:p>
          <a:p>
            <a:pPr lvl="1">
              <a:lnSpc>
                <a:spcPct val="104000"/>
              </a:lnSpc>
              <a:spcAft>
                <a:spcPts val="1000"/>
              </a:spcAft>
            </a:pPr>
            <a:r>
              <a:rPr sz="1800" b="0" i="0">
                <a:solidFill>
                  <a:srgbClr val="707070"/>
                </a:solidFill>
                <a:latin typeface="Helvetica"/>
              </a:rPr>
              <a:t>–   </a:t>
            </a:r>
            <a:r>
              <a:rPr sz="1800" b="1" i="0">
                <a:solidFill>
                  <a:srgbClr val="C00000"/>
                </a:solidFill>
                <a:latin typeface="Helvetica"/>
              </a:rPr>
              <a:t>Quanto spazio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 stradale è occupato dalla sosta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783080"/>
            <a:ext cx="4434840" cy="420624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700" b="1" i="0">
                <a:solidFill>
                  <a:srgbClr val="C00000"/>
                </a:solidFill>
                <a:latin typeface="Helvetica"/>
              </a:rPr>
              <a:t>Dati di partenza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303030"/>
                </a:solidFill>
                <a:latin typeface="Helvetica"/>
              </a:rPr>
              <a:t>FCD — spostamenti</a:t>
            </a:r>
          </a:p>
          <a:p>
            <a:r>
              <a:rPr sz="1300" b="0" i="0">
                <a:solidFill>
                  <a:srgbClr val="303030"/>
                </a:solidFill>
                <a:latin typeface="Helvetica"/>
              </a:rPr>
              <a:t>411.356 viaggi GPS (marzo 2023); la destinazione = luogo di sosta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303030"/>
                </a:solidFill>
                <a:latin typeface="Helvetica"/>
              </a:rPr>
              <a:t>municipi_2013.shp</a:t>
            </a:r>
          </a:p>
          <a:p>
            <a:r>
              <a:rPr sz="1300" b="0" i="0">
                <a:solidFill>
                  <a:srgbClr val="303030"/>
                </a:solidFill>
                <a:latin typeface="Helvetica"/>
              </a:rPr>
              <a:t>15 poligoni → perimetro del Comune di Roma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303030"/>
                </a:solidFill>
                <a:latin typeface="Helvetica"/>
              </a:rPr>
              <a:t>AC_VEI.shp</a:t>
            </a:r>
          </a:p>
          <a:p>
            <a:r>
              <a:rPr sz="1300" b="0" i="0">
                <a:solidFill>
                  <a:srgbClr val="303030"/>
                </a:solidFill>
                <a:latin typeface="Helvetica"/>
              </a:rPr>
              <a:t>79.085 poligoni di superficie carrabile (~135,1 km²)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Metodologia: la pipeline di analisi</a:t>
            </a:r>
          </a:p>
          <a:p>
            <a:r>
              <a:rPr sz="1500" b="0" i="1">
                <a:solidFill>
                  <a:srgbClr val="707070"/>
                </a:solidFill>
                <a:latin typeface="Helvetica"/>
              </a:rPr>
              <a:t>Sistema di riferimento metrico EPSG:25833 — script Python (geopandas, pandas, matplotlib, h3)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7297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000" b="1" i="0">
                <a:solidFill>
                  <a:srgbClr val="707070"/>
                </a:solidFill>
                <a:latin typeface="Helvetica"/>
              </a:rPr>
              <a:t>STEP</a:t>
            </a:r>
          </a:p>
          <a:p>
            <a:pPr algn="ctr"/>
            <a:r>
              <a:rPr sz="2600" b="1" i="0">
                <a:solidFill>
                  <a:srgbClr val="C00000"/>
                </a:solidFill>
                <a:latin typeface="Helvetica"/>
              </a:rPr>
              <a:t>1 · 2</a:t>
            </a:r>
          </a:p>
          <a:p>
            <a:pPr algn="ctr">
              <a:spcBef>
                <a:spcPts val="600"/>
              </a:spcBef>
            </a:pPr>
            <a:r>
              <a:rPr sz="1350" b="1" i="0">
                <a:solidFill>
                  <a:srgbClr val="303030"/>
                </a:solidFill>
                <a:latin typeface="Helvetica"/>
              </a:rPr>
              <a:t>Caricamento &amp; georeferenziazione</a:t>
            </a:r>
          </a:p>
          <a:p>
            <a:pPr algn="ctr">
              <a:spcBef>
                <a:spcPts val="600"/>
              </a:spcBef>
            </a:pPr>
            <a:r>
              <a:rPr sz="1150" b="0" i="0">
                <a:solidFill>
                  <a:srgbClr val="303030"/>
                </a:solidFill>
                <a:latin typeface="Helvetica"/>
              </a:rPr>
              <a:t>Unione dei 4 CSV, parsing orari, riproiezione delle destinazioni in coordinate metriche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8420" y="2103120"/>
            <a:ext cx="17297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000" b="1" i="0">
                <a:solidFill>
                  <a:srgbClr val="707070"/>
                </a:solidFill>
                <a:latin typeface="Helvetica"/>
              </a:rPr>
              <a:t>STEP</a:t>
            </a:r>
          </a:p>
          <a:p>
            <a:pPr algn="ctr"/>
            <a:r>
              <a:rPr sz="2600" b="1" i="0">
                <a:solidFill>
                  <a:srgbClr val="C00000"/>
                </a:solidFill>
                <a:latin typeface="Helvetica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sz="1350" b="1" i="0">
                <a:solidFill>
                  <a:srgbClr val="303030"/>
                </a:solidFill>
                <a:latin typeface="Helvetica"/>
              </a:rPr>
              <a:t>Filtro sul Comune di Roma</a:t>
            </a:r>
          </a:p>
          <a:p>
            <a:pPr algn="ctr">
              <a:spcBef>
                <a:spcPts val="600"/>
              </a:spcBef>
            </a:pPr>
            <a:r>
              <a:rPr sz="1150" b="0" i="0">
                <a:solidFill>
                  <a:srgbClr val="303030"/>
                </a:solidFill>
                <a:latin typeface="Helvetica"/>
              </a:rPr>
              <a:t>Spatial join (R-tree) dei punti sul perimetro municipale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6760" y="2103120"/>
            <a:ext cx="17297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000" b="1" i="0">
                <a:solidFill>
                  <a:srgbClr val="707070"/>
                </a:solidFill>
                <a:latin typeface="Helvetica"/>
              </a:rPr>
              <a:t>STEP</a:t>
            </a:r>
          </a:p>
          <a:p>
            <a:pPr algn="ctr"/>
            <a:r>
              <a:rPr sz="2600" b="1" i="0">
                <a:solidFill>
                  <a:srgbClr val="C00000"/>
                </a:solidFill>
                <a:latin typeface="Helvetica"/>
              </a:rPr>
              <a:t>4</a:t>
            </a:r>
          </a:p>
          <a:p>
            <a:pPr algn="ctr">
              <a:spcBef>
                <a:spcPts val="600"/>
              </a:spcBef>
            </a:pPr>
            <a:r>
              <a:rPr sz="1350" b="1" i="0">
                <a:solidFill>
                  <a:srgbClr val="303030"/>
                </a:solidFill>
                <a:latin typeface="Helvetica"/>
              </a:rPr>
              <a:t>On-street / off-street</a:t>
            </a:r>
          </a:p>
          <a:p>
            <a:pPr algn="ctr">
              <a:spcBef>
                <a:spcPts val="600"/>
              </a:spcBef>
            </a:pPr>
            <a:r>
              <a:rPr sz="1150" b="0" i="0">
                <a:solidFill>
                  <a:srgbClr val="303030"/>
                </a:solidFill>
                <a:latin typeface="Helvetica"/>
              </a:rPr>
              <a:t>Test dei punti sulla superficie carrabile con buffer 0–10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0" y="2103120"/>
            <a:ext cx="17297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000" b="1" i="0">
                <a:solidFill>
                  <a:srgbClr val="707070"/>
                </a:solidFill>
                <a:latin typeface="Helvetica"/>
              </a:rPr>
              <a:t>STEP</a:t>
            </a:r>
          </a:p>
          <a:p>
            <a:pPr algn="ctr"/>
            <a:r>
              <a:rPr sz="2600" b="1" i="0">
                <a:solidFill>
                  <a:srgbClr val="C00000"/>
                </a:solidFill>
                <a:latin typeface="Helvetica"/>
              </a:rPr>
              <a:t>5 · 6</a:t>
            </a:r>
          </a:p>
          <a:p>
            <a:pPr algn="ctr">
              <a:spcBef>
                <a:spcPts val="600"/>
              </a:spcBef>
            </a:pPr>
            <a:r>
              <a:rPr sz="1350" b="1" i="0">
                <a:solidFill>
                  <a:srgbClr val="303030"/>
                </a:solidFill>
                <a:latin typeface="Helvetica"/>
              </a:rPr>
              <a:t>Analisi temporale</a:t>
            </a:r>
          </a:p>
          <a:p>
            <a:pPr algn="ctr">
              <a:spcBef>
                <a:spcPts val="600"/>
              </a:spcBef>
            </a:pPr>
            <a:r>
              <a:rPr sz="1150" b="0" i="0">
                <a:solidFill>
                  <a:srgbClr val="303030"/>
                </a:solidFill>
                <a:latin typeface="Helvetica"/>
              </a:rPr>
              <a:t>Aggregazione per ora del giorno e giorno della settimana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3440" y="2103120"/>
            <a:ext cx="17297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000" b="1" i="0">
                <a:solidFill>
                  <a:srgbClr val="707070"/>
                </a:solidFill>
                <a:latin typeface="Helvetica"/>
              </a:rPr>
              <a:t>STEP</a:t>
            </a:r>
          </a:p>
          <a:p>
            <a:pPr algn="ctr"/>
            <a:r>
              <a:rPr sz="2600" b="1" i="0">
                <a:solidFill>
                  <a:srgbClr val="C00000"/>
                </a:solidFill>
                <a:latin typeface="Helvetica"/>
              </a:rPr>
              <a:t>7</a:t>
            </a:r>
          </a:p>
          <a:p>
            <a:pPr algn="ctr">
              <a:spcBef>
                <a:spcPts val="600"/>
              </a:spcBef>
            </a:pPr>
            <a:r>
              <a:rPr sz="1350" b="1" i="0">
                <a:solidFill>
                  <a:srgbClr val="303030"/>
                </a:solidFill>
                <a:latin typeface="Helvetica"/>
              </a:rPr>
              <a:t>Fermi vs in uso</a:t>
            </a:r>
          </a:p>
          <a:p>
            <a:pPr algn="ctr">
              <a:spcBef>
                <a:spcPts val="600"/>
              </a:spcBef>
            </a:pPr>
            <a:r>
              <a:rPr sz="1150" b="0" i="0">
                <a:solidFill>
                  <a:srgbClr val="303030"/>
                </a:solidFill>
                <a:latin typeface="Helvetica"/>
              </a:rPr>
              <a:t>Snapshot orari: veicoli in viaggio vs parcheggiati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1779" y="2103120"/>
            <a:ext cx="17297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000" b="1" i="0">
                <a:solidFill>
                  <a:srgbClr val="707070"/>
                </a:solidFill>
                <a:latin typeface="Helvetica"/>
              </a:rPr>
              <a:t>STEP</a:t>
            </a:r>
          </a:p>
          <a:p>
            <a:pPr algn="ctr"/>
            <a:r>
              <a:rPr sz="2600" b="1" i="0">
                <a:solidFill>
                  <a:srgbClr val="C00000"/>
                </a:solidFill>
                <a:latin typeface="Helvetica"/>
              </a:rPr>
              <a:t>9 · 10</a:t>
            </a:r>
          </a:p>
          <a:p>
            <a:pPr algn="ctr">
              <a:spcBef>
                <a:spcPts val="600"/>
              </a:spcBef>
            </a:pPr>
            <a:r>
              <a:rPr sz="1350" b="1" i="0">
                <a:solidFill>
                  <a:srgbClr val="303030"/>
                </a:solidFill>
                <a:latin typeface="Helvetica"/>
              </a:rPr>
              <a:t>Scala città &amp; mappe</a:t>
            </a:r>
          </a:p>
          <a:p>
            <a:pPr algn="ctr">
              <a:spcBef>
                <a:spcPts val="600"/>
              </a:spcBef>
            </a:pPr>
            <a:r>
              <a:rPr sz="1150" b="0" i="0">
                <a:solidFill>
                  <a:srgbClr val="303030"/>
                </a:solidFill>
                <a:latin typeface="Helvetica"/>
              </a:rPr>
              <a:t>Calibrazione sul traffico reale e mappe H3 per municipio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Filtraggio territoriale: gli spostamenti dentro Roma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657600" cy="155448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411.356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Spostamenti FCD totali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920240"/>
            <a:ext cx="3657600" cy="155448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357.117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Destinazione dentro Roma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19" y="1920240"/>
            <a:ext cx="3657600" cy="155448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86,8%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Quota interna al Comune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8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Ogni destinazione è confrontata con il perimetro municipale tramite </a:t>
            </a:r>
            <a:r>
              <a:rPr sz="1800" b="1" i="0">
                <a:solidFill>
                  <a:srgbClr val="C00000"/>
                </a:solidFill>
                <a:latin typeface="Helvetica"/>
              </a:rPr>
              <a:t>spatial join indicizzato (R-tree)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8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L'</a:t>
            </a:r>
            <a:r>
              <a:rPr sz="1800" b="1" i="0">
                <a:solidFill>
                  <a:srgbClr val="C00000"/>
                </a:solidFill>
                <a:latin typeface="Helvetica"/>
              </a:rPr>
              <a:t>86,8%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 degli spostamenti (357.117) ha destinazione interna a Roma; il restante 13,2% (54.239) è escluso dall'analisi.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8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Tutte le analisi successive lavorano sui </a:t>
            </a:r>
            <a:r>
              <a:rPr sz="1800" b="1" i="0">
                <a:solidFill>
                  <a:srgbClr val="303030"/>
                </a:solidFill>
                <a:latin typeface="Helvetica"/>
              </a:rPr>
              <a:t>357.117 spostamenti</a:t>
            </a:r>
            <a:r>
              <a:rPr sz="1800" b="0" i="0">
                <a:solidFill>
                  <a:srgbClr val="303030"/>
                </a:solidFill>
                <a:latin typeface="Helvetica"/>
              </a:rPr>
              <a:t> con destinazione comunale.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Dove si parcheggia: sosta su strada vs fuori strada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Senza tolleranza il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65%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 delle soste è esattamente sulla carreggiata (on-street).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Con appena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2 m di buffer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 — coerenti con l'errore GPS urbano — si sale al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76,4%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, e a 5 m all'84%.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La curva cresce ripida nei primi metri: i punti 'fuori strada' sono in gran parte soste su strada </a:t>
            </a:r>
            <a:r>
              <a:rPr sz="1700" b="1" i="0">
                <a:solidFill>
                  <a:srgbClr val="303030"/>
                </a:solidFill>
                <a:latin typeface="Helvetica"/>
              </a:rPr>
              <a:t>mal georeferenziate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, non aree private.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Risultato robusto: a Roma si parcheggia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prevalentemente su strada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612648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03120"/>
                <a:gridCol w="14630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Helvetica"/>
                        </a:rPr>
                        <a:t>Buffer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Helvetica"/>
                        </a:rPr>
                        <a:t>On-street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Helvetica"/>
                        </a:rPr>
                        <a:t>% On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0 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232.071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65,0%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2 m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272.941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76,4%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5 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300.996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84,3%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10 m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321.846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03030"/>
                          </a:solidFill>
                          <a:latin typeface="Helvetica"/>
                        </a:rPr>
                        <a:t>90,1%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4_curva_buf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25171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6400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Fig. 4 — Quota on-street al variare del buffer sulla superficie carrabile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Quando si arriva: profilo orario e settimanale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heatmap_volume_ora_gior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56708"/>
            <a:ext cx="6949440" cy="24819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9037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Fig. 3 — Heatmap del volume di arrivi per ora e giorno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Profilo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bimodale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: punta mattutina (8–12, ~24.000/h) e serale (~18, ~25.000/h).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Salita mattutina rapida: tra le 6 e le 8 il volume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quadruplica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Netto calo nel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weekend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: la domenica (~30.000) è meno della metà del picco feriale.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Il 'blocco caldo' feriale 8–19 è ben delimitato; sabato e domenica più 'freddi' e spostati sulle ore centrali.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La sosta su strada cambia tra giorno e notte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andamento_orario_on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9494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9951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Fig. 6 — Volume arrivi (sopra) e % on-street per ora (sotto)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La quota on-street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non è costante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nelle 24 ore.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Massima di notte e prima mattina (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~72–73% tra le 3 e le 5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): i residenti senza box restano in strada.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Minima nelle ore centrali/serali (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~62–64%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): pesano le destinazioni con parcheggi privati.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La quota on-street è invece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stabile lungo la settimana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: tratto strutturale del territorio.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Un'auto è un oggetto prevalentemente fermo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146304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94,2%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Parcheggiati — media 24h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657600" cy="146304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98,6%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Parcheggiati — notte (23–05)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19" y="1828800"/>
            <a:ext cx="3657600" cy="146304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~90%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Fermi anche nell'ora di punta</a:t>
            </a:r>
          </a:p>
        </p:txBody>
      </p:sp>
      <p:pic>
        <p:nvPicPr>
          <p:cNvPr id="8" name="Picture 7" descr="fig9_pct_parcheggiati_vs_inuso_or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01440"/>
            <a:ext cx="6949440" cy="289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71780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Fig. 9 — % veicoli parcheggiati vs in uso per ora del giorno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65760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Metodo a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snapshot orari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(istantanea alle :30) su 23.571 veicoli, 32 giorni.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Anche nell'ora di massimo traffico, solo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~10%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dei veicoli è in movimento.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La variabilità è quasi solo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oraria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(giorno/notte), non settimanale.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Lo spazio richiesto dalla sosta è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permanente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, non di picco.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Dalla scala campione alla scala città</a:t>
            </a:r>
          </a:p>
          <a:p>
            <a:r>
              <a:rPr sz="1500" b="0" i="1">
                <a:solidFill>
                  <a:srgbClr val="707070"/>
                </a:solidFill>
                <a:latin typeface="Helvetica"/>
              </a:rPr>
              <a:t>Calibrazione su un riferimento reale di traffico di punta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943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Riferimento esterno: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300.000 veicoli unici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in circolazione nella punta 07–09.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Nel campione: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1.381 veicoli/giorno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nella stessa finestra → fattore di espansione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≈ 217×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Superficie occupata = parco totale (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1.600.000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) − veicoli in movimento, con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12,5 m²/veicolo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480560"/>
          <a:ext cx="6035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71600"/>
                <a:gridCol w="914400"/>
                <a:gridCol w="1280160"/>
                <a:gridCol w="9144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Helvetica"/>
                        </a:rPr>
                        <a:t>Fascia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Helvetica"/>
                        </a:rPr>
                        <a:t>Parcheggiati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Helvetica"/>
                        </a:rPr>
                        <a:t>% parch.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Helvetica"/>
                        </a:rPr>
                        <a:t>On-street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Helvetica"/>
                        </a:rPr>
                        <a:t>% sup.</a:t>
                      </a:r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Media 24h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1.538.612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96,2%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1.175.500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10,9%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Diurno 06–22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1.518.292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94,9%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1.159.975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10,7%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Notturno 23–05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1.587.960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99,2%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1.213.202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11,2%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Picco 8:30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1.487.111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92,9%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1.136.153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03030"/>
                          </a:solidFill>
                          <a:latin typeface="Helvetica"/>
                        </a:rPr>
                        <a:t>10,5%</a:t>
                      </a:r>
                    </a:p>
                  </a:txBody>
                  <a:tcPr marL="76200" marR="76200" marT="38100" marB="38100" anchor="ctr">
                    <a:solidFill>
                      <a:srgbClr val="F5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704088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≈ </a:t>
            </a:r>
            <a:r>
              <a:rPr sz="1400" b="1" i="0">
                <a:solidFill>
                  <a:srgbClr val="C00000"/>
                </a:solidFill>
                <a:latin typeface="Helvetica"/>
              </a:rPr>
              <a:t>1,5 milioni di veicoli fermi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 in un momento medio, di cui </a:t>
            </a:r>
            <a:r>
              <a:rPr sz="1400" b="1" i="0">
                <a:solidFill>
                  <a:srgbClr val="C00000"/>
                </a:solidFill>
                <a:latin typeface="Helvetica"/>
              </a:rPr>
              <a:t>~1,18 mln su strada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 ≈ </a:t>
            </a:r>
            <a:r>
              <a:rPr sz="1400" b="1" i="0">
                <a:solidFill>
                  <a:srgbClr val="C00000"/>
                </a:solidFill>
                <a:latin typeface="Helvetica"/>
              </a:rPr>
              <a:t>11% della superficie carrabile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.</a:t>
            </a:r>
          </a:p>
        </p:txBody>
      </p:sp>
      <p:pic>
        <p:nvPicPr>
          <p:cNvPr id="8" name="Picture 7" descr="fig14_stima_citta_fasce_ora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697480"/>
            <a:ext cx="5486400" cy="32918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6995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Fig. 14 — Distribuzione dei veicoli per fascia oraria (stima città)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Geografia della sosta: densità e funzione residenziale</a:t>
            </a:r>
          </a:p>
          <a:p>
            <a:r>
              <a:rPr sz="1500" b="0" i="1">
                <a:solidFill>
                  <a:srgbClr val="707070"/>
                </a:solidFill>
                <a:latin typeface="Helvetica"/>
              </a:rPr>
              <a:t>Griglia esagonale H3 (resolution 9, lato ~174 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01_densita_totale_campi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26" y="1783080"/>
            <a:ext cx="494470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7208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Map 01 — Densità di sosta totale (soste/km², campione)</a:t>
            </a:r>
          </a:p>
        </p:txBody>
      </p:sp>
      <p:pic>
        <p:nvPicPr>
          <p:cNvPr id="7" name="Picture 6" descr="map07_indice_residenzi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984" y="1783080"/>
            <a:ext cx="4852671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7208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Map 07 — Indice residenziale (% soste notturne)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0"/>
            <a:ext cx="11795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5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500" b="0" i="0">
                <a:solidFill>
                  <a:srgbClr val="303030"/>
                </a:solidFill>
                <a:latin typeface="Helvetica"/>
              </a:rPr>
              <a:t>La sosta si addensa lungo gli assi radiali e nel </a:t>
            </a:r>
            <a:r>
              <a:rPr sz="1500" b="1" i="0">
                <a:solidFill>
                  <a:srgbClr val="C00000"/>
                </a:solidFill>
                <a:latin typeface="Helvetica"/>
              </a:rPr>
              <a:t>quadrante sud-est</a:t>
            </a:r>
            <a:r>
              <a:rPr sz="1500" b="0" i="0">
                <a:solidFill>
                  <a:srgbClr val="303030"/>
                </a:solidFill>
                <a:latin typeface="Helvetica"/>
              </a:rPr>
              <a:t> (Appio–Tuscolano, Cinecittà). Il centro mostra la maggiore </a:t>
            </a:r>
            <a:r>
              <a:rPr sz="1500" b="1" i="0">
                <a:solidFill>
                  <a:srgbClr val="C00000"/>
                </a:solidFill>
                <a:latin typeface="Helvetica"/>
              </a:rPr>
              <a:t>impronta residenziale</a:t>
            </a:r>
            <a:r>
              <a:rPr sz="1500" b="0" i="0">
                <a:solidFill>
                  <a:srgbClr val="303030"/>
                </a:solidFill>
                <a:latin typeface="Helvetica"/>
              </a:rPr>
              <a:t> (% notturna più alta).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Confronto tra municipi: densità e residenzialità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12_municipio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68346"/>
            <a:ext cx="7223760" cy="29501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99516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Map 12 — Indicatori di sosta per municipio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Netta gerarchia di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densità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: Municipi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IX (~1.000 soste/km²)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e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VIII (~999)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staccano tutti.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La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residenzialità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segue un ordine quasi opposto: massima nel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Centro (Municipio I, 23,9%)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Disaccoppiamento netto: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'tanta sosta' ≠ 'sosta da residenti'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Due politiche diverse: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rotazione/tariffazione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vs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permessi residenti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Saturazione: i cluster di massima pressione</a:t>
            </a:r>
          </a:p>
          <a:p>
            <a:r>
              <a:rPr sz="1500" b="0" i="1">
                <a:solidFill>
                  <a:srgbClr val="707070"/>
                </a:solidFill>
                <a:latin typeface="Helvetica"/>
              </a:rPr>
              <a:t>Indicatore RELATIVO — non leggere i valori assoluti come % di superficie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14_saturazione_h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49" y="1783080"/>
            <a:ext cx="5141621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9037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7070"/>
                </a:solidFill>
                <a:latin typeface="Helvetica"/>
              </a:rPr>
              <a:t>Map 14 — Saturazione per cella 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920240"/>
            <a:ext cx="4937760" cy="475488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600" b="1" i="0">
                <a:solidFill>
                  <a:srgbClr val="C00000"/>
                </a:solidFill>
                <a:latin typeface="Helvetica"/>
              </a:rPr>
              <a:t>⚠  Nota di lettura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1400" b="0" i="0">
                <a:solidFill>
                  <a:srgbClr val="C00000"/>
                </a:solidFill>
                <a:latin typeface="Helvetica"/>
              </a:rPr>
              <a:t>•  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I valori superano il 100% (fino a ~2.700% nel Mun. VIII) e </a:t>
            </a:r>
            <a:r>
              <a:rPr sz="1400" b="1" i="0">
                <a:solidFill>
                  <a:srgbClr val="303030"/>
                </a:solidFill>
                <a:latin typeface="Helvetica"/>
              </a:rPr>
              <a:t>non sono % di superficie occupata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1400" b="0" i="0">
                <a:solidFill>
                  <a:srgbClr val="C00000"/>
                </a:solidFill>
                <a:latin typeface="Helvetica"/>
              </a:rPr>
              <a:t>•  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Sommano </a:t>
            </a:r>
            <a:r>
              <a:rPr sz="1400" b="1" i="0">
                <a:solidFill>
                  <a:srgbClr val="303030"/>
                </a:solidFill>
                <a:latin typeface="Helvetica"/>
              </a:rPr>
              <a:t>eventi di sosta cumulati sul mese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 (rotazione degli stalli), non occupazioni simultanee.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1400" b="0" i="0">
                <a:solidFill>
                  <a:srgbClr val="C00000"/>
                </a:solidFill>
                <a:latin typeface="Helvetica"/>
              </a:rPr>
              <a:t>•  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Vanno usati solo per confrontare la </a:t>
            </a:r>
            <a:r>
              <a:rPr sz="1400" b="1" i="0">
                <a:solidFill>
                  <a:srgbClr val="C00000"/>
                </a:solidFill>
                <a:latin typeface="Helvetica"/>
              </a:rPr>
              <a:t>pressione relativa tra zone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1400" b="0" i="0">
                <a:solidFill>
                  <a:srgbClr val="C00000"/>
                </a:solidFill>
                <a:latin typeface="Helvetica"/>
              </a:rPr>
              <a:t>•  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I cluster rossi sono compatti nel </a:t>
            </a:r>
            <a:r>
              <a:rPr sz="1400" b="1" i="0">
                <a:solidFill>
                  <a:srgbClr val="C00000"/>
                </a:solidFill>
                <a:latin typeface="Helvetica"/>
              </a:rPr>
              <a:t>sud-est (Mun. VII–VIII–IX)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1400" b="0" i="0">
                <a:solidFill>
                  <a:srgbClr val="C00000"/>
                </a:solidFill>
                <a:latin typeface="Helvetica"/>
              </a:rPr>
              <a:t>•  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La stima fisica affidabile resta l'</a:t>
            </a:r>
            <a:r>
              <a:rPr sz="1400" b="1" i="0">
                <a:solidFill>
                  <a:srgbClr val="C00000"/>
                </a:solidFill>
                <a:latin typeface="Helvetica"/>
              </a:rPr>
              <a:t>~11% di superficie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 (snapshot istantaneo, STEP 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Limiti del metodo: stime di ordine di grandezza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4980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Campione FCD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non casuale (veicoli recenti, uso intenso) e su un </a:t>
            </a:r>
            <a:r>
              <a:rPr sz="1600" b="1" i="0">
                <a:solidFill>
                  <a:srgbClr val="303030"/>
                </a:solidFill>
                <a:latin typeface="Helvetica"/>
              </a:rPr>
              <a:t>solo mese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(marzo 2023).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Calibrazione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: il fattore 217× confronta grandezze non perfettamente omogenee.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Parco ACI (1,6 mln)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include mezzi fermi/non assicurati → sovrastima i parcheggiati.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Ratio on/off-street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estesa a tutta la flotta e costante 24h → sovrastima l'on-street.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Errore GPS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5–15 m; nessuna soglia di buffer universalmente corretta.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Ingombro 12,5 m²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 tarato sull'auto media: moto e furgoni hanno ingombri diversi.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6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600" b="1" i="0">
                <a:solidFill>
                  <a:srgbClr val="C00000"/>
                </a:solidFill>
                <a:latin typeface="Helvetica"/>
              </a:rPr>
              <a:t>AC_VEI ~2014</a:t>
            </a:r>
            <a:r>
              <a:rPr sz="1600" b="0" i="0">
                <a:solidFill>
                  <a:srgbClr val="303030"/>
                </a:solidFill>
                <a:latin typeface="Helvetica"/>
              </a:rPr>
              <a:t>: trasformazioni viabilistiche successive non incluse.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920240"/>
            <a:ext cx="3840480" cy="448056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600" b="1" i="0">
                <a:solidFill>
                  <a:srgbClr val="C00000"/>
                </a:solidFill>
                <a:latin typeface="Helvetica"/>
              </a:rPr>
              <a:t>Direzione complessiva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303030"/>
                </a:solidFill>
                <a:latin typeface="Helvetica"/>
              </a:rPr>
              <a:t>Le distorsioni puntano a una </a:t>
            </a:r>
            <a:r>
              <a:rPr sz="1400" b="1" i="0">
                <a:solidFill>
                  <a:srgbClr val="C00000"/>
                </a:solidFill>
                <a:latin typeface="Helvetica"/>
              </a:rPr>
              <a:t>leggera sovrastima</a:t>
            </a:r>
            <a:r>
              <a:rPr sz="1400" b="0" i="0">
                <a:solidFill>
                  <a:srgbClr val="303030"/>
                </a:solidFill>
                <a:latin typeface="Helvetica"/>
              </a:rPr>
              <a:t> della sosta su strada.</a:t>
            </a:r>
          </a:p>
          <a:p>
            <a:pPr>
              <a:spcBef>
                <a:spcPts val="1200"/>
              </a:spcBef>
            </a:pPr>
            <a:r>
              <a:rPr sz="1400" b="0" i="0">
                <a:solidFill>
                  <a:srgbClr val="303030"/>
                </a:solidFill>
                <a:latin typeface="Helvetica"/>
              </a:rPr>
              <a:t>I valori assoluti = limite superiore ragionevole.</a:t>
            </a:r>
          </a:p>
          <a:p>
            <a:pPr algn="ctr">
              <a:spcBef>
                <a:spcPts val="1200"/>
              </a:spcBef>
            </a:pPr>
            <a:r>
              <a:rPr sz="1900" b="1" i="0">
                <a:solidFill>
                  <a:srgbClr val="C00000"/>
                </a:solidFill>
                <a:latin typeface="Helvetica"/>
              </a:rPr>
              <a:t>Incertezza ±15–25%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0"/>
            <a:ext cx="27432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" y="566928"/>
            <a:ext cx="1188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00000"/>
                </a:solidFill>
                <a:latin typeface="Helvetica"/>
              </a:rPr>
              <a:t>Sintesi conclusiva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79576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74620" cy="150876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65% → 76%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Sosta su strada (0 m → 2 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9020" y="1828800"/>
            <a:ext cx="2674620" cy="150876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&gt;94%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Veicoli fermi nel momento medio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9" y="1828800"/>
            <a:ext cx="2674620" cy="150876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~1,5 mln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Veicoli parcheggiati a Roma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86899" y="1828800"/>
            <a:ext cx="2674620" cy="1508760"/>
          </a:xfrm>
          <a:prstGeom prst="roundRect">
            <a:avLst/>
          </a:prstGeom>
          <a:solidFill>
            <a:srgbClr val="F5F0F0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 i="0">
                <a:solidFill>
                  <a:srgbClr val="C00000"/>
                </a:solidFill>
                <a:latin typeface="Helvetica"/>
              </a:rPr>
              <a:t>~11%</a:t>
            </a:r>
          </a:p>
          <a:p>
            <a:pPr algn="ctr"/>
            <a:r>
              <a:rPr sz="1250" b="0" i="0">
                <a:solidFill>
                  <a:srgbClr val="303030"/>
                </a:solidFill>
                <a:latin typeface="Helvetica"/>
              </a:rPr>
              <a:t>Superficie carrabile occupata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L'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86,8%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 degli spostamenti ha destinazione dentro Roma; la sosta è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prevalentemente su strada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 (65% a 0 m, 76% a 2 m).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In un momento medio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&gt;94%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 dei veicoli è fermo (notte &gt;98%): </a:t>
            </a:r>
            <a:r>
              <a:rPr sz="1700" b="1" i="0">
                <a:solidFill>
                  <a:srgbClr val="303030"/>
                </a:solidFill>
                <a:latin typeface="Helvetica"/>
              </a:rPr>
              <a:t>lo spazio di sosta è una domanda permanente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Geografia: pressione massima nel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quadrante sud-est (Mun. VII–VIII–IX)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; massima impronta residenziale nel </a:t>
            </a:r>
            <a:r>
              <a:rPr sz="1700" b="1" i="0">
                <a:solidFill>
                  <a:srgbClr val="303030"/>
                </a:solidFill>
                <a:latin typeface="Helvetica"/>
              </a:rPr>
              <a:t>Centro Storico (24% notturne)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; on-street uniforme (73–81%).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Le mappe di 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saturazione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 sono solo indicatori relativi; la stima affidabile di occupazione è l'</a:t>
            </a:r>
            <a:r>
              <a:rPr sz="1700" b="1" i="0">
                <a:solidFill>
                  <a:srgbClr val="C00000"/>
                </a:solidFill>
                <a:latin typeface="Helvetica"/>
              </a:rPr>
              <a:t>~11%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.</a:t>
            </a:r>
          </a:p>
          <a:p>
            <a:pPr>
              <a:lnSpc>
                <a:spcPct val="104000"/>
              </a:lnSpc>
              <a:spcAft>
                <a:spcPts val="1600"/>
              </a:spcAft>
            </a:pPr>
            <a:r>
              <a:rPr sz="1700" b="0" i="0">
                <a:solidFill>
                  <a:srgbClr val="C00000"/>
                </a:solidFill>
                <a:latin typeface="Helvetica"/>
              </a:rPr>
              <a:t>•   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Tutte le stime assolute sono </a:t>
            </a:r>
            <a:r>
              <a:rPr sz="1700" b="1" i="0">
                <a:solidFill>
                  <a:srgbClr val="303030"/>
                </a:solidFill>
                <a:latin typeface="Helvetica"/>
              </a:rPr>
              <a:t>ordini di grandezza</a:t>
            </a:r>
            <a:r>
              <a:rPr sz="1700" b="0" i="0">
                <a:solidFill>
                  <a:srgbClr val="303030"/>
                </a:solidFill>
                <a:latin typeface="Helvetica"/>
              </a:rPr>
              <a:t> con incertezza ±15–25%.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91440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Helvetica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3342</TotalTime>
  <Words>101</Words>
  <Application>Microsoft Office PowerPoint</Application>
  <PresentationFormat>Formato A3 (297x420 mm)</PresentationFormat>
  <Paragraphs>8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Wingdings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Marisdea Castiglione</dc:creator>
  <cp:lastModifiedBy>Marisdea Castiglione</cp:lastModifiedBy>
  <cp:revision>7</cp:revision>
  <dcterms:created xsi:type="dcterms:W3CDTF">2026-04-15T08:36:22Z</dcterms:created>
  <dcterms:modified xsi:type="dcterms:W3CDTF">2026-06-19T09:40:38Z</dcterms:modified>
</cp:coreProperties>
</file>