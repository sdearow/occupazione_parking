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277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360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30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738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25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8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00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71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7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1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35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6C41E-0291-49AE-B513-D8F3BEC08122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E122B-84CF-4A6D-AF3F-F8BCAB0B3C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65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tonda angolo diagonale rettangolo 6">
            <a:extLst>
              <a:ext uri="{FF2B5EF4-FFF2-40B4-BE49-F238E27FC236}">
                <a16:creationId xmlns:a16="http://schemas.microsoft.com/office/drawing/2014/main" id="{43E217BF-0E04-6073-4BCB-F9272CB2E83D}"/>
              </a:ext>
            </a:extLst>
          </p:cNvPr>
          <p:cNvSpPr/>
          <p:nvPr/>
        </p:nvSpPr>
        <p:spPr>
          <a:xfrm>
            <a:off x="807366" y="744223"/>
            <a:ext cx="11186868" cy="57927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906" y="21600"/>
                  <a:pt x="2005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694" y="0"/>
                  <a:pt x="1550" y="0"/>
                </a:cubicBezTo>
                <a:close/>
              </a:path>
            </a:pathLst>
          </a:custGeom>
          <a:solidFill>
            <a:srgbClr val="800000"/>
          </a:solidFill>
          <a:ln w="12700">
            <a:miter lim="400000"/>
          </a:ln>
          <a:effectLst>
            <a:outerShdw blurRad="50800" dist="25400" dir="5400000" rotWithShape="0">
              <a:srgbClr val="595959">
                <a:alpha val="34999"/>
              </a:srgbClr>
            </a:outerShdw>
          </a:effectLst>
        </p:spPr>
        <p:txBody>
          <a:bodyPr lIns="22958" tIns="22958" rIns="22958" bIns="22958" anchor="ctr"/>
          <a:lstStyle/>
          <a:p>
            <a:endParaRPr sz="317"/>
          </a:p>
        </p:txBody>
      </p:sp>
      <p:grpSp>
        <p:nvGrpSpPr>
          <p:cNvPr id="23" name="Rettangolo 9">
            <a:extLst>
              <a:ext uri="{FF2B5EF4-FFF2-40B4-BE49-F238E27FC236}">
                <a16:creationId xmlns:a16="http://schemas.microsoft.com/office/drawing/2014/main" id="{1CDEA274-DD48-E2D8-89B4-9380607D38DA}"/>
              </a:ext>
            </a:extLst>
          </p:cNvPr>
          <p:cNvGrpSpPr/>
          <p:nvPr/>
        </p:nvGrpSpPr>
        <p:grpSpPr>
          <a:xfrm>
            <a:off x="1057194" y="5930324"/>
            <a:ext cx="1715689" cy="312451"/>
            <a:chOff x="-1" y="0"/>
            <a:chExt cx="4881041" cy="888906"/>
          </a:xfrm>
        </p:grpSpPr>
        <p:sp>
          <p:nvSpPr>
            <p:cNvPr id="24" name="Rettangolo">
              <a:extLst>
                <a:ext uri="{FF2B5EF4-FFF2-40B4-BE49-F238E27FC236}">
                  <a16:creationId xmlns:a16="http://schemas.microsoft.com/office/drawing/2014/main" id="{BABB2062-3773-5B21-E7A8-6FA9B99CA65B}"/>
                </a:ext>
              </a:extLst>
            </p:cNvPr>
            <p:cNvSpPr/>
            <p:nvPr/>
          </p:nvSpPr>
          <p:spPr>
            <a:xfrm>
              <a:off x="-1" y="0"/>
              <a:ext cx="4881041" cy="88890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2958" tIns="22958" rIns="22958" bIns="22958" numCol="1" anchor="ctr">
              <a:noAutofit/>
            </a:bodyPr>
            <a:lstStyle/>
            <a:p>
              <a:pPr algn="ctr">
                <a:defRPr>
                  <a:solidFill>
                    <a:srgbClr val="800000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endParaRPr sz="317" dirty="0"/>
            </a:p>
          </p:txBody>
        </p:sp>
        <p:sp>
          <p:nvSpPr>
            <p:cNvPr id="25" name="Roma, 2018">
              <a:extLst>
                <a:ext uri="{FF2B5EF4-FFF2-40B4-BE49-F238E27FC236}">
                  <a16:creationId xmlns:a16="http://schemas.microsoft.com/office/drawing/2014/main" id="{DD03D9A7-1DB9-7FC1-8A3F-66E0C5309742}"/>
                </a:ext>
              </a:extLst>
            </p:cNvPr>
            <p:cNvSpPr/>
            <p:nvPr/>
          </p:nvSpPr>
          <p:spPr>
            <a:xfrm>
              <a:off x="-1" y="121209"/>
              <a:ext cx="4881039" cy="6464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2141" tIns="32141" rIns="32141" bIns="32141" numCol="1" anchor="ctr">
              <a:noAutofit/>
            </a:bodyPr>
            <a:lstStyle>
              <a:lvl1pPr algn="ctr">
                <a:defRPr sz="3000" b="1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it-IT" sz="1500" dirty="0"/>
                <a:t>19/06/2026</a:t>
              </a:r>
              <a:endParaRPr sz="1500" dirty="0"/>
            </a:p>
          </p:txBody>
        </p:sp>
      </p:grpSp>
      <p:sp>
        <p:nvSpPr>
          <p:cNvPr id="26" name="CasellaDiTesto 4">
            <a:extLst>
              <a:ext uri="{FF2B5EF4-FFF2-40B4-BE49-F238E27FC236}">
                <a16:creationId xmlns:a16="http://schemas.microsoft.com/office/drawing/2014/main" id="{60333941-04C5-CCBE-2BAB-A47227EB42CB}"/>
              </a:ext>
            </a:extLst>
          </p:cNvPr>
          <p:cNvSpPr/>
          <p:nvPr/>
        </p:nvSpPr>
        <p:spPr>
          <a:xfrm>
            <a:off x="1506600" y="2630982"/>
            <a:ext cx="10145025" cy="1542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32141" bIns="32141">
            <a:spAutoFit/>
          </a:bodyPr>
          <a:lstStyle/>
          <a:p>
            <a:pPr algn="ctr"/>
            <a:r>
              <a:rPr lang="it-IT" sz="4800" b="1" dirty="0">
                <a:solidFill>
                  <a:schemeClr val="bg1"/>
                </a:solidFill>
              </a:rPr>
              <a:t>Analisi delle condizioni </a:t>
            </a:r>
          </a:p>
          <a:p>
            <a:pPr algn="ctr"/>
            <a:r>
              <a:rPr lang="it-IT" sz="4800" b="1" dirty="0">
                <a:solidFill>
                  <a:schemeClr val="bg1"/>
                </a:solidFill>
              </a:rPr>
              <a:t>di sosta veicolare </a:t>
            </a:r>
          </a:p>
        </p:txBody>
      </p:sp>
      <p:pic>
        <p:nvPicPr>
          <p:cNvPr id="27" name="Immagine 8" descr="Immagine 8">
            <a:extLst>
              <a:ext uri="{FF2B5EF4-FFF2-40B4-BE49-F238E27FC236}">
                <a16:creationId xmlns:a16="http://schemas.microsoft.com/office/drawing/2014/main" id="{877D6292-A7B8-AFD4-4346-B30FAAE6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Linee_Grigie-02.png" descr="Linee_Grigie-02.png">
            <a:extLst>
              <a:ext uri="{FF2B5EF4-FFF2-40B4-BE49-F238E27FC236}">
                <a16:creationId xmlns:a16="http://schemas.microsoft.com/office/drawing/2014/main" id="{07BD3596-438C-BF26-FD06-DCD60317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292" y="8998289"/>
            <a:ext cx="4363012" cy="32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Skyline-03.png" descr="Skyline-03.png">
            <a:extLst>
              <a:ext uri="{FF2B5EF4-FFF2-40B4-BE49-F238E27FC236}">
                <a16:creationId xmlns:a16="http://schemas.microsoft.com/office/drawing/2014/main" id="{7C2E1C8B-3514-ABA5-11AF-BE59191F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7472163"/>
            <a:ext cx="6098821" cy="16407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Logo_500x500.png" descr="Logo_500x500.png">
            <a:extLst>
              <a:ext uri="{FF2B5EF4-FFF2-40B4-BE49-F238E27FC236}">
                <a16:creationId xmlns:a16="http://schemas.microsoft.com/office/drawing/2014/main" id="{6493F174-55DB-E78B-DBDF-9BB3D3301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97" y="7885396"/>
            <a:ext cx="1273593" cy="127359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5194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822613-9920-6706-E321-5FC55C877ED3}"/>
              </a:ext>
            </a:extLst>
          </p:cNvPr>
          <p:cNvSpPr txBox="1"/>
          <p:nvPr/>
        </p:nvSpPr>
        <p:spPr>
          <a:xfrm>
            <a:off x="758365" y="1805529"/>
            <a:ext cx="11284869" cy="579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Sviluppo di un 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sistema integrato</a:t>
            </a:r>
            <a:r>
              <a:rPr lang="it-IT" sz="25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volto a identificare e gestire i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punti critici 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della rete stradale di Roma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Implementazione della metodologia </a:t>
            </a:r>
            <a:r>
              <a:rPr lang="it-IT" sz="25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Empirical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Bayes 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 isolare i siti (black spot e black </a:t>
            </a:r>
            <a:r>
              <a:rPr lang="it-IT" sz="2500" dirty="0" err="1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section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 caratterizzati da un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eccesso statistico di incidentalità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eliminando le variazioni casuali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Trasformazione di dati complessi in una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dashboard interattiva 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 supportare la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pianificazione di interventi 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 la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riduzione dei costi sociali</a:t>
            </a:r>
          </a:p>
          <a:p>
            <a:pPr marL="300038" indent="-300038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Il piano garantisce la massima 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riproducibilità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permettendo </a:t>
            </a:r>
            <a:r>
              <a:rPr lang="it-IT" sz="25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l'aggiornamento costante dei dati </a:t>
            </a:r>
            <a:r>
              <a:rPr lang="it-IT" sz="2500" dirty="0">
                <a:solidFill>
                  <a:srgbClr val="30303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 monitorare nel tempo la sicurezza urbana</a:t>
            </a:r>
            <a:endParaRPr lang="it-IT" sz="25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magine 5" descr="Immagine 8">
            <a:extLst>
              <a:ext uri="{FF2B5EF4-FFF2-40B4-BE49-F238E27FC236}">
                <a16:creationId xmlns:a16="http://schemas.microsoft.com/office/drawing/2014/main" id="{A03E293F-96F3-F742-AA81-8395AD0C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58" y="0"/>
            <a:ext cx="2743163" cy="41404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DCC6AC-F739-1844-8B22-6276178B7986}"/>
              </a:ext>
            </a:extLst>
          </p:cNvPr>
          <p:cNvSpPr txBox="1"/>
          <p:nvPr/>
        </p:nvSpPr>
        <p:spPr>
          <a:xfrm>
            <a:off x="484495" y="709344"/>
            <a:ext cx="11284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Sistema di Identificazione dei Black Point Incidentali di Roma</a:t>
            </a:r>
          </a:p>
        </p:txBody>
      </p:sp>
    </p:spTree>
    <p:extLst>
      <p:ext uri="{BB962C8B-B14F-4D97-AF65-F5344CB8AC3E}">
        <p14:creationId xmlns:p14="http://schemas.microsoft.com/office/powerpoint/2010/main" val="3236364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3342</TotalTime>
  <Words>101</Words>
  <Application>Microsoft Office PowerPoint</Application>
  <PresentationFormat>Formato A3 (297x420 mm)</PresentationFormat>
  <Paragraphs>8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Wingdings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Marisdea Castiglione</dc:creator>
  <cp:lastModifiedBy>Marisdea Castiglione</cp:lastModifiedBy>
  <cp:revision>7</cp:revision>
  <dcterms:created xsi:type="dcterms:W3CDTF">2026-04-15T08:36:22Z</dcterms:created>
  <dcterms:modified xsi:type="dcterms:W3CDTF">2026-06-19T09:40:38Z</dcterms:modified>
</cp:coreProperties>
</file>